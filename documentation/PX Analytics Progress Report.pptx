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Comfortaa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22" Type="http://schemas.openxmlformats.org/officeDocument/2006/relationships/font" Target="fonts/Comfortaa-bold.fntdata"/><Relationship Id="rId10" Type="http://schemas.openxmlformats.org/officeDocument/2006/relationships/slide" Target="slides/slide5.xml"/><Relationship Id="rId21" Type="http://schemas.openxmlformats.org/officeDocument/2006/relationships/font" Target="fonts/Comfortaa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17156e35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17156e35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2e0e7b0c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2e0e7b0c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17156e35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17156e35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17156e35f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17156e35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2e0e7b0c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2e0e7b0c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17156e35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17156e35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2e0e7b0c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2e0e7b0c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2e0e7b0c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2e0e7b0c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2e0e7b0c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2e0e7b0c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2e0e7b0c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2e0e7b0c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ankylosaur/PX-Analytics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11700" y="462100"/>
            <a:ext cx="8520600" cy="56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3000">
                <a:latin typeface="Comfortaa"/>
                <a:ea typeface="Comfortaa"/>
                <a:cs typeface="Comfortaa"/>
                <a:sym typeface="Comfortaa"/>
              </a:rPr>
              <a:t>PX Analytics Progress Report</a:t>
            </a:r>
            <a:endParaRPr b="1" sz="3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5229300" y="4619563"/>
            <a:ext cx="3914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  <a:latin typeface="Comfortaa"/>
                <a:ea typeface="Comfortaa"/>
                <a:cs typeface="Comfortaa"/>
                <a:sym typeface="Comfortaa"/>
              </a:rPr>
              <a:t>Ankit Saha </a:t>
            </a:r>
            <a:endParaRPr sz="1800">
              <a:solidFill>
                <a:srgbClr val="59595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1029711"/>
            <a:ext cx="75870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595959"/>
                </a:solidFill>
                <a:latin typeface="Comfortaa"/>
                <a:ea typeface="Comfortaa"/>
                <a:cs typeface="Comfortaa"/>
                <a:sym typeface="Comfortaa"/>
              </a:rPr>
              <a:t>MVP </a:t>
            </a:r>
            <a:r>
              <a:rPr lang="en" sz="1800">
                <a:solidFill>
                  <a:srgbClr val="595959"/>
                </a:solidFill>
                <a:latin typeface="Comfortaa"/>
                <a:ea typeface="Comfortaa"/>
                <a:cs typeface="Comfortaa"/>
                <a:sym typeface="Comfortaa"/>
              </a:rPr>
              <a:t>Architecture</a:t>
            </a:r>
            <a:r>
              <a:rPr lang="en" sz="1800">
                <a:solidFill>
                  <a:srgbClr val="595959"/>
                </a:solidFill>
                <a:latin typeface="Comfortaa"/>
                <a:ea typeface="Comfortaa"/>
                <a:cs typeface="Comfortaa"/>
                <a:sym typeface="Comfortaa"/>
              </a:rPr>
              <a:t> and Implementation</a:t>
            </a:r>
            <a:br>
              <a:rPr lang="en" sz="1800">
                <a:solidFill>
                  <a:srgbClr val="595959"/>
                </a:solidFill>
                <a:latin typeface="Comfortaa"/>
                <a:ea typeface="Comfortaa"/>
                <a:cs typeface="Comfortaa"/>
                <a:sym typeface="Comfortaa"/>
              </a:rPr>
            </a:br>
            <a:br>
              <a:rPr lang="en" sz="1800">
                <a:solidFill>
                  <a:srgbClr val="595959"/>
                </a:solidFill>
                <a:latin typeface="Comfortaa"/>
                <a:ea typeface="Comfortaa"/>
                <a:cs typeface="Comfortaa"/>
                <a:sym typeface="Comfortaa"/>
              </a:rPr>
            </a:br>
            <a:r>
              <a:rPr lang="en" sz="1800" u="sng">
                <a:solidFill>
                  <a:srgbClr val="4A86E8"/>
                </a:solidFill>
                <a:latin typeface="Comfortaa"/>
                <a:ea typeface="Comfortaa"/>
                <a:cs typeface="Comfortaa"/>
                <a:sym typeface="Comforta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</a:t>
            </a:r>
            <a:endParaRPr sz="1800">
              <a:solidFill>
                <a:srgbClr val="4A86E8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0" y="1017725"/>
            <a:ext cx="8362800" cy="18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The Problem (Survey Bottleneck):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Post-visit surveys capture a low ~5% response rate.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Extreme selection bias (skewed toward highly satisfied or highly dissatisfied outliers).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Reactive data lagged by 30 days, disconnected from clinical workflows.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b="1" lang="en" sz="1600">
                <a:latin typeface="Nunito"/>
                <a:ea typeface="Nunito"/>
                <a:cs typeface="Nunito"/>
                <a:sym typeface="Nunito"/>
              </a:rPr>
            </a:b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The Solution (Ambient PX):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Passive, ambient analysis of consultation audio ensuring a 100% capture rate.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Y-Split Processing: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Decouples acoustic biometrics (tone, tempo) from semantic clinical charting to preserve patient privacy.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Actionable Output: Translates raw audio markers into standardized 0–100 metrics: </a:t>
            </a:r>
            <a:r>
              <a:rPr lang="en" sz="1600" u="sng">
                <a:latin typeface="Nunito"/>
                <a:ea typeface="Nunito"/>
                <a:cs typeface="Nunito"/>
                <a:sym typeface="Nunito"/>
              </a:rPr>
              <a:t>Empathy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lang="en" sz="1600" u="sng">
                <a:latin typeface="Nunito"/>
                <a:ea typeface="Nunito"/>
                <a:cs typeface="Nunito"/>
                <a:sym typeface="Nunito"/>
              </a:rPr>
              <a:t>Clarity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, and </a:t>
            </a:r>
            <a:r>
              <a:rPr lang="en" sz="1600" u="sng">
                <a:latin typeface="Nunito"/>
                <a:ea typeface="Nunito"/>
                <a:cs typeface="Nunito"/>
                <a:sym typeface="Nunito"/>
              </a:rPr>
              <a:t>Efficiency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20">
                <a:latin typeface="Comfortaa"/>
                <a:ea typeface="Comfortaa"/>
                <a:cs typeface="Comfortaa"/>
                <a:sym typeface="Comfortaa"/>
              </a:rPr>
              <a:t>Problem Statement</a:t>
            </a:r>
            <a:endParaRPr b="1" sz="252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80600"/>
            <a:ext cx="8839202" cy="383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20">
                <a:latin typeface="Comfortaa"/>
                <a:ea typeface="Comfortaa"/>
                <a:cs typeface="Comfortaa"/>
                <a:sym typeface="Comfortaa"/>
              </a:rPr>
              <a:t>Problem Statement</a:t>
            </a:r>
            <a:endParaRPr b="1" sz="252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0" y="1128275"/>
            <a:ext cx="8362800" cy="41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Frontend Layer (UI &amp; Orchestration):</a:t>
            </a:r>
            <a:endParaRPr b="1" sz="1600">
              <a:latin typeface="Nunito"/>
              <a:ea typeface="Nunito"/>
              <a:cs typeface="Nunito"/>
              <a:sym typeface="Nunito"/>
            </a:endParaRPr>
          </a:p>
          <a:p>
            <a:pPr indent="-3302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Vite, </a:t>
            </a:r>
            <a:r>
              <a:rPr b="1" lang="en" sz="1600" u="sng">
                <a:latin typeface="Nunito"/>
                <a:ea typeface="Nunito"/>
                <a:cs typeface="Nunito"/>
                <a:sym typeface="Nunito"/>
              </a:rPr>
              <a:t>React 18</a:t>
            </a:r>
            <a:endParaRPr b="1" sz="1600" u="sng">
              <a:latin typeface="Nunito"/>
              <a:ea typeface="Nunito"/>
              <a:cs typeface="Nunito"/>
              <a:sym typeface="Nunito"/>
            </a:endParaRPr>
          </a:p>
          <a:p>
            <a:pPr indent="-3302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Tailwind CSS v4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Recharts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Lucide React.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Backend Layer (ML Inference API):</a:t>
            </a:r>
            <a:endParaRPr b="1" sz="1600">
              <a:latin typeface="Nunito"/>
              <a:ea typeface="Nunito"/>
              <a:cs typeface="Nunito"/>
              <a:sym typeface="Nunito"/>
            </a:endParaRPr>
          </a:p>
          <a:p>
            <a:pPr indent="-3302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Python 3.13, </a:t>
            </a:r>
            <a:r>
              <a:rPr b="1" lang="en" sz="1600" u="sng">
                <a:latin typeface="Nunito"/>
                <a:ea typeface="Nunito"/>
                <a:cs typeface="Nunito"/>
                <a:sym typeface="Nunito"/>
              </a:rPr>
              <a:t>FastAPI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, Uvicorn, </a:t>
            </a:r>
            <a:r>
              <a:rPr b="1" lang="en" sz="1600" u="sng">
                <a:latin typeface="Nunito"/>
                <a:ea typeface="Nunito"/>
                <a:cs typeface="Nunito"/>
                <a:sym typeface="Nunito"/>
              </a:rPr>
              <a:t>PyTorch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b="1" lang="en" sz="1600" u="sng">
                <a:latin typeface="Nunito"/>
                <a:ea typeface="Nunito"/>
                <a:cs typeface="Nunito"/>
                <a:sym typeface="Nunito"/>
              </a:rPr>
              <a:t>Librosa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, NumPy.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Lightweight 112,968 parameter 1D-CNN optimized for low-latency CPU inference.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Database &amp; Security Layer (Data State):</a:t>
            </a:r>
            <a:endParaRPr b="1" sz="1600">
              <a:latin typeface="Nunito"/>
              <a:ea typeface="Nunito"/>
              <a:cs typeface="Nunito"/>
              <a:sym typeface="Nunito"/>
            </a:endParaRPr>
          </a:p>
          <a:p>
            <a:pPr indent="-3302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b="1" lang="en" sz="1600" u="sng">
                <a:latin typeface="Nunito"/>
                <a:ea typeface="Nunito"/>
                <a:cs typeface="Nunito"/>
                <a:sym typeface="Nunito"/>
              </a:rPr>
              <a:t>Cloud Firestore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(NoSQL), Firebase Authentication.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en" sz="1600">
                <a:latin typeface="Nunito"/>
                <a:ea typeface="Nunito"/>
                <a:cs typeface="Nunito"/>
                <a:sym typeface="Nunito"/>
              </a:rPr>
              <a:t>Role-Based Access Control (RBAC) enforced strictly via server-side Firestore Security Rules.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20">
                <a:latin typeface="Comfortaa"/>
                <a:ea typeface="Comfortaa"/>
                <a:cs typeface="Comfortaa"/>
                <a:sym typeface="Comfortaa"/>
              </a:rPr>
              <a:t>System Architecture &amp; Tech Stack </a:t>
            </a:r>
            <a:endParaRPr b="1" sz="252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/>
        </p:nvSpPr>
        <p:spPr>
          <a:xfrm>
            <a:off x="0" y="1444975"/>
            <a:ext cx="8362800" cy="3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Nunito"/>
              <a:buAutoNum type="arabicParenR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Ingestion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: User uploads a .wav file via the Vite client interface.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AutoNum type="arabicParenR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Inference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: File forwarded directly to the localized Python FastAPI server.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AutoNum type="arabicParenR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Feature Extraction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: Librosa processes audio into a (41, 173) feature tensor (MFCCs + ZCR).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AutoNum type="arabicParenR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Classification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: PyTorch 1D-CNN generates probability logits across 8 emotional classes.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AutoNum type="arabicParenR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Heuristic Mapping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: Translation layer converts raw logits into 0–100 business scores.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AutoNum type="arabicParenR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Live Storage &amp; Sync: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Client appends the active provider_id, writes to Cloud Firestore, and triggers real-time Recharts visualizations via onSnapshot.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20">
                <a:latin typeface="Comfortaa"/>
                <a:ea typeface="Comfortaa"/>
                <a:cs typeface="Comfortaa"/>
                <a:sym typeface="Comfortaa"/>
              </a:rPr>
              <a:t>End-to-End Operational Workflow</a:t>
            </a:r>
            <a:endParaRPr b="1" sz="252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0"/>
            <a:ext cx="441959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 txBox="1"/>
          <p:nvPr/>
        </p:nvSpPr>
        <p:spPr>
          <a:xfrm>
            <a:off x="4572000" y="2285400"/>
            <a:ext cx="457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20">
                <a:latin typeface="Comfortaa"/>
                <a:ea typeface="Comfortaa"/>
                <a:cs typeface="Comfortaa"/>
                <a:sym typeface="Comfortaa"/>
              </a:rPr>
              <a:t>End-to-End Operational Workflow</a:t>
            </a:r>
            <a:endParaRPr b="1" sz="252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/>
        </p:nvSpPr>
        <p:spPr>
          <a:xfrm>
            <a:off x="0" y="788400"/>
            <a:ext cx="8362800" cy="43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Objective: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Extract experiential markers without Natural Language Processing (NLP) or transcriptions to guarantee compliance.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Dataset &amp; Training: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Trained on the </a:t>
            </a:r>
            <a:r>
              <a:rPr b="1" lang="en" sz="1600" u="sng">
                <a:latin typeface="Nunito"/>
                <a:ea typeface="Nunito"/>
                <a:cs typeface="Nunito"/>
                <a:sym typeface="Nunito"/>
              </a:rPr>
              <a:t>RAVDESS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emotional speech database (1,440 records, 8 distinct emotion classes).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Target Audio Features:</a:t>
            </a:r>
            <a:endParaRPr b="1"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 u="sng">
                <a:latin typeface="Nunito"/>
                <a:ea typeface="Nunito"/>
                <a:cs typeface="Nunito"/>
                <a:sym typeface="Nunito"/>
              </a:rPr>
              <a:t>40 MFCCs: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Captures vocal tract spectral shapes to isolate emotional tone 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 u="sng">
                <a:latin typeface="Nunito"/>
                <a:ea typeface="Nunito"/>
                <a:cs typeface="Nunito"/>
                <a:sym typeface="Nunito"/>
              </a:rPr>
              <a:t>1 Zero-Crossing Rate (ZCR)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: Tracks acoustic frequency transitions to evaluate speech tempo and articulation.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Mapping Logic Formulas:</a:t>
            </a:r>
            <a:endParaRPr b="1"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 u="sng">
                <a:latin typeface="Nunito"/>
                <a:ea typeface="Nunito"/>
                <a:cs typeface="Nunito"/>
                <a:sym typeface="Nunito"/>
              </a:rPr>
              <a:t>Empathy: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Weighted positively by Calm/Happy logits; penalized by Angry/Fearful logits.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 u="sng">
                <a:latin typeface="Nunito"/>
                <a:ea typeface="Nunito"/>
                <a:cs typeface="Nunito"/>
                <a:sym typeface="Nunito"/>
              </a:rPr>
              <a:t>Clarity: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Driven by a Gaussian curve centered on an ideal ZCR pacing coefficient (0.06).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 u="sng">
                <a:latin typeface="Nunito"/>
                <a:ea typeface="Nunito"/>
                <a:cs typeface="Nunito"/>
                <a:sym typeface="Nunito"/>
              </a:rPr>
              <a:t>Efficiency: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Composite score balancing positive emotional valence against total stress markers.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2" name="Google Shape;92;p19"/>
          <p:cNvSpPr txBox="1"/>
          <p:nvPr/>
        </p:nvSpPr>
        <p:spPr>
          <a:xfrm>
            <a:off x="311700" y="1283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20">
                <a:latin typeface="Comfortaa"/>
                <a:ea typeface="Comfortaa"/>
                <a:cs typeface="Comfortaa"/>
                <a:sym typeface="Comfortaa"/>
              </a:rPr>
              <a:t>Phase 1 — Acoustic Sentiment Engine</a:t>
            </a:r>
            <a:endParaRPr b="1" sz="252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/>
        </p:nvSpPr>
        <p:spPr>
          <a:xfrm>
            <a:off x="0" y="997250"/>
            <a:ext cx="8520600" cy="40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API Integration: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Enabled </a:t>
            </a:r>
            <a:r>
              <a:rPr b="1" lang="en" sz="1600" u="sng">
                <a:latin typeface="Nunito"/>
                <a:ea typeface="Nunito"/>
                <a:cs typeface="Nunito"/>
                <a:sym typeface="Nunito"/>
              </a:rPr>
              <a:t>CORS Middleware</a:t>
            </a:r>
            <a:r>
              <a:rPr b="1" lang="en" sz="1600" u="sng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on the FastAPI server to permit secure client-side fetch streams directly from the Vite application domain.</a:t>
            </a:r>
            <a:br>
              <a:rPr lang="en" sz="1600">
                <a:latin typeface="Nunito"/>
                <a:ea typeface="Nunito"/>
                <a:cs typeface="Nunito"/>
                <a:sym typeface="Nunito"/>
              </a:rPr>
            </a:b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Firestore Schema Design</a:t>
            </a:r>
            <a:endParaRPr b="1"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 u="sng">
                <a:latin typeface="Nunito"/>
                <a:ea typeface="Nunito"/>
                <a:cs typeface="Nunito"/>
                <a:sym typeface="Nunito"/>
              </a:rPr>
              <a:t>users: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Stores UID, display names, and designated authorization roles.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 u="sng">
                <a:latin typeface="Nunito"/>
                <a:ea typeface="Nunito"/>
                <a:cs typeface="Nunito"/>
                <a:sym typeface="Nunito"/>
              </a:rPr>
              <a:t>providers: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Tracks profiles, specializations, and historical performance rolling metrics.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 u="sng">
                <a:latin typeface="Nunito"/>
                <a:ea typeface="Nunito"/>
                <a:cs typeface="Nunito"/>
                <a:sym typeface="Nunito"/>
              </a:rPr>
              <a:t>consultations: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Houses immutable logs composed of timestamp, provider_id, patient_anxiety_flag, and the {metrics} map.</a:t>
            </a:r>
            <a:br>
              <a:rPr lang="en" sz="1600">
                <a:latin typeface="Nunito"/>
                <a:ea typeface="Nunito"/>
                <a:cs typeface="Nunito"/>
                <a:sym typeface="Nunito"/>
              </a:rPr>
            </a:b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RBAC Constraints:</a:t>
            </a:r>
            <a:endParaRPr b="1"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 u="sng">
                <a:latin typeface="Nunito"/>
                <a:ea typeface="Nunito"/>
                <a:cs typeface="Nunito"/>
                <a:sym typeface="Nunito"/>
              </a:rPr>
              <a:t>Providers: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Restricted via security rules to read only their specific session radar charts and timelines.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 u="sng">
                <a:latin typeface="Nunito"/>
                <a:ea typeface="Nunito"/>
                <a:cs typeface="Nunito"/>
                <a:sym typeface="Nunito"/>
              </a:rPr>
              <a:t>Admins: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Unrestricted global read access across all hospital registries and benchmarking matrices.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311700" y="292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20">
                <a:latin typeface="Comfortaa"/>
                <a:ea typeface="Comfortaa"/>
                <a:cs typeface="Comfortaa"/>
                <a:sym typeface="Comfortaa"/>
              </a:rPr>
              <a:t>Phase 2 &amp; 3 — Infrastructure &amp; Orchestration </a:t>
            </a:r>
            <a:endParaRPr b="1" sz="252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/>
        </p:nvSpPr>
        <p:spPr>
          <a:xfrm>
            <a:off x="0" y="1488677"/>
            <a:ext cx="8520600" cy="27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Reactive State Plumbing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: Eradicated hardcoded mock JSON arrays; bound Recharts data attributes directly to live Firestore document snapshot data streams.</a:t>
            </a:r>
            <a:br>
              <a:rPr lang="en" sz="1600">
                <a:latin typeface="Nunito"/>
                <a:ea typeface="Nunito"/>
                <a:cs typeface="Nunito"/>
                <a:sym typeface="Nunito"/>
              </a:rPr>
            </a:b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Data Seeding Script: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Implemented a standalone Node.js utility utilizing the Firebase Admin SDK to batch-inject 150 randomized consultations backdated across 30 days.</a:t>
            </a:r>
            <a:br>
              <a:rPr lang="en" sz="1600">
                <a:latin typeface="Nunito"/>
                <a:ea typeface="Nunito"/>
                <a:cs typeface="Nunito"/>
                <a:sym typeface="Nunito"/>
              </a:rPr>
            </a:b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Simulated Visual Trends: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Programmed the seeder to weight scores higher as timestamps approached the current date, generating an organic, trending performance line for demo visualization.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4" name="Google Shape;104;p21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20">
                <a:latin typeface="Comfortaa"/>
                <a:ea typeface="Comfortaa"/>
                <a:cs typeface="Comfortaa"/>
                <a:sym typeface="Comfortaa"/>
              </a:rPr>
              <a:t>Phase 4 — Live Dashboard Activation </a:t>
            </a:r>
            <a:endParaRPr b="1" sz="252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/>
        </p:nvSpPr>
        <p:spPr>
          <a:xfrm>
            <a:off x="0" y="1477753"/>
            <a:ext cx="8520600" cy="24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Model Scale: 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Transition from the lightweight 1D-CNN to a fine-tuned foundational audio Transformer architecture (e.g., Wav2Vec 2.0) for increased noise resilience.</a:t>
            </a:r>
            <a:br>
              <a:rPr lang="en" sz="1600">
                <a:latin typeface="Nunito"/>
                <a:ea typeface="Nunito"/>
                <a:cs typeface="Nunito"/>
                <a:sym typeface="Nunito"/>
              </a:rPr>
            </a:b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Data Security Hardening: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Build automated ephemeral data processing loops to immediately purge raw .wav binaries post-inference to maximize privacy.</a:t>
            </a:r>
            <a:br>
              <a:rPr lang="en" sz="1600">
                <a:latin typeface="Nunito"/>
                <a:ea typeface="Nunito"/>
                <a:cs typeface="Nunito"/>
                <a:sym typeface="Nunito"/>
              </a:rPr>
            </a:br>
            <a:endParaRPr b="1" sz="1600">
              <a:latin typeface="Nunito"/>
              <a:ea typeface="Nunito"/>
              <a:cs typeface="Nunito"/>
              <a:sym typeface="Nuni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●"/>
            </a:pPr>
            <a:r>
              <a:rPr b="1" lang="en" sz="1600">
                <a:latin typeface="Nunito"/>
                <a:ea typeface="Nunito"/>
                <a:cs typeface="Nunito"/>
                <a:sym typeface="Nunito"/>
              </a:rPr>
              <a:t>Bias Evaluation:</a:t>
            </a:r>
            <a:r>
              <a:rPr lang="en" sz="1600">
                <a:latin typeface="Nunito"/>
                <a:ea typeface="Nunito"/>
                <a:cs typeface="Nunito"/>
                <a:sym typeface="Nunito"/>
              </a:rPr>
              <a:t> Implement continuous demographic audits to ensure the acoustic classification mapping performs equitably across diverse regional accents and dialects.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0" name="Google Shape;110;p22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20">
                <a:latin typeface="Comfortaa"/>
                <a:ea typeface="Comfortaa"/>
                <a:cs typeface="Comfortaa"/>
                <a:sym typeface="Comfortaa"/>
              </a:rPr>
              <a:t>Next Steps</a:t>
            </a:r>
            <a:endParaRPr b="1" sz="252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/>
        </p:nvSpPr>
        <p:spPr>
          <a:xfrm>
            <a:off x="311700" y="2248950"/>
            <a:ext cx="8520600" cy="6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3000">
                <a:solidFill>
                  <a:srgbClr val="000000"/>
                </a:solidFill>
                <a:latin typeface="Comfortaa"/>
                <a:ea typeface="Comfortaa"/>
                <a:cs typeface="Comfortaa"/>
                <a:sym typeface="Comfortaa"/>
              </a:rPr>
              <a:t>Thank You</a:t>
            </a:r>
            <a:endParaRPr b="1" sz="3000">
              <a:solidFill>
                <a:srgbClr val="000000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