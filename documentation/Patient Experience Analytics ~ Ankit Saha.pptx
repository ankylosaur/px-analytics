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Nunito"/>
      <p:regular r:id="rId16"/>
      <p:bold r:id="rId17"/>
      <p:italic r:id="rId18"/>
      <p:boldItalic r:id="rId19"/>
    </p:embeddedFont>
    <p:embeddedFont>
      <p:font typeface="Comfortaa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omfortaa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Comfortaa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unito-bold.fntdata"/><Relationship Id="rId16" Type="http://schemas.openxmlformats.org/officeDocument/2006/relationships/font" Target="fonts/Nuni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boldItalic.fntdata"/><Relationship Id="rId6" Type="http://schemas.openxmlformats.org/officeDocument/2006/relationships/slide" Target="slides/slide1.xml"/><Relationship Id="rId18" Type="http://schemas.openxmlformats.org/officeDocument/2006/relationships/font" Target="fonts/Nuni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9116ce258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9116ce258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9116ce258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9116ce258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9116ce25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e9116ce25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9116ce258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e9116ce258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9116ce25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e9116ce25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9116ce258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e9116ce258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9116ce25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e9116ce25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9116ce258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e9116ce25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9116ce258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e9116ce25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market-git-72215516.figma.site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11700" y="308525"/>
            <a:ext cx="8520600" cy="1290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3000">
                <a:latin typeface="Comfortaa"/>
                <a:ea typeface="Comfortaa"/>
                <a:cs typeface="Comfortaa"/>
                <a:sym typeface="Comfortaa"/>
              </a:rPr>
              <a:t>Ambient Clinical Intelligence &amp; Patient Experience Analytics </a:t>
            </a:r>
            <a:endParaRPr b="1" sz="30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6883075" y="4488900"/>
            <a:ext cx="2260800" cy="6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latin typeface="Comfortaa"/>
                <a:ea typeface="Comfortaa"/>
                <a:cs typeface="Comfortaa"/>
                <a:sym typeface="Comfortaa"/>
                <a:hlinkClick r:id="rId3"/>
              </a:rPr>
              <a:t>Figma Mockup</a:t>
            </a:r>
            <a:endParaRPr sz="1800">
              <a:solidFill>
                <a:srgbClr val="59595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311700" y="1346719"/>
            <a:ext cx="4520100" cy="3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Lexend Light"/>
              <a:buChar char="●"/>
            </a:pP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The Data Gap: 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Current post-visit surveys yield ~5% response rates, typically capturing only extreme sentiments long after the appointment.  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Lexend Light"/>
              <a:buChar char="●"/>
            </a:pP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The Operational Blindspot: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 Without real-time, objective data on provider interactions, leadership cannot proactively improve patient trust or treatment compliance.  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Lexend Light"/>
              <a:buChar char="●"/>
            </a:pP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The Goal: 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Move from delayed, anecdotal complaints to a 100% passive feedback capture system.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20">
                <a:latin typeface="Comfortaa"/>
                <a:ea typeface="Comfortaa"/>
                <a:cs typeface="Comfortaa"/>
                <a:sym typeface="Comfortaa"/>
              </a:rPr>
              <a:t>Problem Statement: </a:t>
            </a:r>
            <a:r>
              <a:rPr b="1" lang="en" sz="2520">
                <a:latin typeface="Comfortaa"/>
                <a:ea typeface="Comfortaa"/>
                <a:cs typeface="Comfortaa"/>
                <a:sym typeface="Comfortaa"/>
              </a:rPr>
              <a:t>The Survey Bottleneck</a:t>
            </a:r>
            <a:endParaRPr b="1" sz="252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1800" y="1343559"/>
            <a:ext cx="4000500" cy="331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52000"/>
            <a:ext cx="3763499" cy="40072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3500" y="3065720"/>
            <a:ext cx="5380500" cy="1858167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3763500" y="113175"/>
            <a:ext cx="5380500" cy="3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Data Repurposing: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 Utilize the ambient consultation audio already being captured for automated EMR charting.  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Simultaneous Processing: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 A "Y-Split" data flow routes audio to both Clinical (NLP for EMRs) and Experiential processing engines simultaneously.  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Acoustic Sentiment: 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Analyzes biometric voice markers (tone, pitch, speed) to gauge patient comfort without requiring active survey participation.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714150" y="113175"/>
            <a:ext cx="233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20">
                <a:latin typeface="Comfortaa"/>
                <a:ea typeface="Comfortaa"/>
                <a:cs typeface="Comfortaa"/>
                <a:sym typeface="Comfortaa"/>
              </a:rPr>
              <a:t>Architecture</a:t>
            </a:r>
            <a:endParaRPr b="1" sz="252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/>
        </p:nvSpPr>
        <p:spPr>
          <a:xfrm>
            <a:off x="311700" y="1662150"/>
            <a:ext cx="8520600" cy="18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Unbiased Data: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 Eliminates survey fatigue by gathering passive feedback natively during every visit.  </a:t>
            </a:r>
            <a:br>
              <a:rPr lang="en" sz="1600">
                <a:latin typeface="Nunito"/>
                <a:ea typeface="Nunito"/>
                <a:cs typeface="Nunito"/>
                <a:sym typeface="Nunito"/>
              </a:rPr>
            </a:b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Real-Time ROI: 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Immediately tracks global sentiment shifts and flags critical friction alerts.</a:t>
            </a:r>
            <a:br>
              <a:rPr lang="en" sz="1600">
                <a:latin typeface="Nunito"/>
                <a:ea typeface="Nunito"/>
                <a:cs typeface="Nunito"/>
                <a:sym typeface="Nunito"/>
              </a:rPr>
            </a:b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Longitudinal Tracking: 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Replaces static data snapshots with continuous tracking of hospital-wide patient trust and comfort trends.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20">
                <a:latin typeface="Comfortaa"/>
                <a:ea typeface="Comfortaa"/>
                <a:cs typeface="Comfortaa"/>
                <a:sym typeface="Comfortaa"/>
              </a:rPr>
              <a:t>Executive Impact</a:t>
            </a:r>
            <a:endParaRPr b="1" sz="252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7"/>
          <p:cNvPicPr preferRelativeResize="0"/>
          <p:nvPr/>
        </p:nvPicPr>
        <p:blipFill rotWithShape="1">
          <a:blip r:embed="rId3">
            <a:alphaModFix/>
          </a:blip>
          <a:srcRect b="1363" l="0" r="0" t="1314"/>
          <a:stretch/>
        </p:blipFill>
        <p:spPr>
          <a:xfrm>
            <a:off x="0" y="863258"/>
            <a:ext cx="9144001" cy="428025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 txBox="1"/>
          <p:nvPr/>
        </p:nvSpPr>
        <p:spPr>
          <a:xfrm>
            <a:off x="311700" y="143243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20">
                <a:latin typeface="Comfortaa"/>
                <a:ea typeface="Comfortaa"/>
                <a:cs typeface="Comfortaa"/>
                <a:sym typeface="Comfortaa"/>
              </a:rPr>
              <a:t>Executive Dashboard</a:t>
            </a:r>
            <a:endParaRPr b="1" sz="252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20">
                <a:latin typeface="Comfortaa"/>
                <a:ea typeface="Comfortaa"/>
                <a:cs typeface="Comfortaa"/>
                <a:sym typeface="Comfortaa"/>
              </a:rPr>
              <a:t>Speciality Benchmarking </a:t>
            </a:r>
            <a:endParaRPr b="1" sz="252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8" name="Google Shape;88;p18"/>
          <p:cNvSpPr txBox="1"/>
          <p:nvPr/>
        </p:nvSpPr>
        <p:spPr>
          <a:xfrm>
            <a:off x="311700" y="1662150"/>
            <a:ext cx="8520600" cy="18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Departmental Comparison: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 Aggregates performance to compare communication efficacy across different specialties (e.g., Cardiology vs. Pediatrics).</a:t>
            </a:r>
            <a:br>
              <a:rPr lang="en" sz="1600">
                <a:latin typeface="Nunito"/>
                <a:ea typeface="Nunito"/>
                <a:cs typeface="Nunito"/>
                <a:sym typeface="Nunito"/>
              </a:rPr>
            </a:b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Targeted Interventions: 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Maps specific friction points (e.g., "Wait Time Anxiety" or "Treatment Confusion") to the departments where they occur most frequently.</a:t>
            </a:r>
            <a:br>
              <a:rPr lang="en" sz="1600">
                <a:latin typeface="Nunito"/>
                <a:ea typeface="Nunito"/>
                <a:cs typeface="Nunito"/>
                <a:sym typeface="Nunito"/>
              </a:rPr>
            </a:b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Resource Optimization: 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Allows leadership to allocate coaching and scheduling resources based on objective, departmental needs.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/>
        </p:nvSpPr>
        <p:spPr>
          <a:xfrm>
            <a:off x="311700" y="143243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2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Speciality Benchmarking Dashboard</a:t>
            </a:r>
            <a:endParaRPr b="1" sz="252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2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94" name="Google Shape;94;p19"/>
          <p:cNvPicPr preferRelativeResize="0"/>
          <p:nvPr/>
        </p:nvPicPr>
        <p:blipFill rotWithShape="1">
          <a:blip r:embed="rId3">
            <a:alphaModFix/>
          </a:blip>
          <a:srcRect b="1488" l="0" r="0" t="0"/>
          <a:stretch/>
        </p:blipFill>
        <p:spPr>
          <a:xfrm>
            <a:off x="0" y="772525"/>
            <a:ext cx="9143999" cy="437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/>
        </p:nvSpPr>
        <p:spPr>
          <a:xfrm>
            <a:off x="311700" y="1346725"/>
            <a:ext cx="8520600" cy="3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Contextual Scoring: 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The PX Score Radar visually scores providers on Empathy, Clarity, and Efficiency based on acoustic data.  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Fatigue Tracking: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 Identifies interaction drop-offs (e.g., declining clarity during afternoon shifts) to adjust scheduling.  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Deployment Risks &amp; Mitigation:</a:t>
            </a:r>
            <a:endParaRPr b="1" sz="1600"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Adoption: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 Must be positioned for private professional development, not punitive monitoring.  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Consent: 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Requires seamless, non-alarming front-desk workflows.  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Bias: 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Algorithm requires human oversight to prevent socio-economic segregation in patient-matching.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0" name="Google Shape;100;p20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20">
                <a:latin typeface="Comfortaa"/>
                <a:ea typeface="Comfortaa"/>
                <a:cs typeface="Comfortaa"/>
                <a:sym typeface="Comfortaa"/>
              </a:rPr>
              <a:t>Provider Analytics</a:t>
            </a:r>
            <a:endParaRPr b="1" sz="252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/>
        </p:nvSpPr>
        <p:spPr>
          <a:xfrm>
            <a:off x="311700" y="143243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2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Provider Dashboard</a:t>
            </a:r>
            <a:endParaRPr b="1" sz="252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06" name="Google Shape;106;p21"/>
          <p:cNvPicPr preferRelativeResize="0"/>
          <p:nvPr/>
        </p:nvPicPr>
        <p:blipFill rotWithShape="1">
          <a:blip r:embed="rId3">
            <a:alphaModFix/>
          </a:blip>
          <a:srcRect b="1575" l="0" r="0" t="0"/>
          <a:stretch/>
        </p:blipFill>
        <p:spPr>
          <a:xfrm>
            <a:off x="-12" y="828750"/>
            <a:ext cx="9144024" cy="431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/>
        </p:nvSpPr>
        <p:spPr>
          <a:xfrm>
            <a:off x="311700" y="2248950"/>
            <a:ext cx="8520600" cy="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30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Thank You</a:t>
            </a:r>
            <a:endParaRPr b="1" sz="30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